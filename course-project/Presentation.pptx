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3" r:id="rId2"/>
  </p:sldMasterIdLst>
  <p:notesMasterIdLst>
    <p:notesMasterId r:id="rId20"/>
  </p:notesMasterIdLst>
  <p:sldIdLst>
    <p:sldId id="256" r:id="rId3"/>
    <p:sldId id="257" r:id="rId4"/>
    <p:sldId id="258" r:id="rId5"/>
    <p:sldId id="259" r:id="rId6"/>
    <p:sldId id="260" r:id="rId7"/>
    <p:sldId id="261" r:id="rId8"/>
    <p:sldId id="273" r:id="rId9"/>
    <p:sldId id="262" r:id="rId10"/>
    <p:sldId id="263" r:id="rId11"/>
    <p:sldId id="264" r:id="rId12"/>
    <p:sldId id="265" r:id="rId13"/>
    <p:sldId id="266" r:id="rId14"/>
    <p:sldId id="267" r:id="rId15"/>
    <p:sldId id="272" r:id="rId16"/>
    <p:sldId id="268" r:id="rId17"/>
    <p:sldId id="269" r:id="rId18"/>
    <p:sldId id="270" r:id="rId19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227">
          <p15:clr>
            <a:srgbClr val="9AA0A6"/>
          </p15:clr>
        </p15:guide>
        <p15:guide id="3" orient="horz" pos="179">
          <p15:clr>
            <a:srgbClr val="9AA0A6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4" roundtripDataSignature="AMtx7mjKhNp5dpYSsAYJX4nkyfhcrESN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79F2DDD-858B-4C48-8312-BD252F341D8D}">
  <a:tblStyle styleId="{179F2DDD-858B-4C48-8312-BD252F341D8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99" d="100"/>
          <a:sy n="199" d="100"/>
        </p:scale>
        <p:origin x="3222" y="150"/>
      </p:cViewPr>
      <p:guideLst>
        <p:guide pos="5533"/>
        <p:guide pos="227"/>
        <p:guide orient="horz" pos="1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font" Target="fonts/font1.fntdata"/><Relationship Id="rId34" Type="http://customschemas.google.com/relationships/presentationmetadata" Target="meta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4.fntdata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3.fntdata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2.fntdata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3cef942d38_1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3cef942d38_1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3cef942d38_1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3cef942d38_1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52DB693A-CDDF-4333-40FF-DA3B93529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3cef942d38_1_146:notes">
            <a:extLst>
              <a:ext uri="{FF2B5EF4-FFF2-40B4-BE49-F238E27FC236}">
                <a16:creationId xmlns:a16="http://schemas.microsoft.com/office/drawing/2014/main" id="{18A5C0BD-ACFB-5AAB-A963-16A877C383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33cef942d38_1_146:notes">
            <a:extLst>
              <a:ext uri="{FF2B5EF4-FFF2-40B4-BE49-F238E27FC236}">
                <a16:creationId xmlns:a16="http://schemas.microsoft.com/office/drawing/2014/main" id="{B2F74A7D-25DC-282E-F8C7-72501AFCD6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9484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3cef942d38_1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33cef942d38_1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3cef942d38_1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g33cef942d38_1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3cef942d38_2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g33cef942d38_2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3cef942d38_2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g33cef942d38_2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3cef942d38_1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33cef942d38_1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F66E6D13-F361-01E0-B9A4-9637ED9B7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:notes">
            <a:extLst>
              <a:ext uri="{FF2B5EF4-FFF2-40B4-BE49-F238E27FC236}">
                <a16:creationId xmlns:a16="http://schemas.microsoft.com/office/drawing/2014/main" id="{8DB5924A-DE24-A68C-F3EF-9FB79D19B0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p11:notes">
            <a:extLst>
              <a:ext uri="{FF2B5EF4-FFF2-40B4-BE49-F238E27FC236}">
                <a16:creationId xmlns:a16="http://schemas.microsoft.com/office/drawing/2014/main" id="{8CFE6E1D-A486-933B-B69D-2B5EA76AC7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47494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6d2f09e36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g36d2f09e36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2" name="Google Shape;21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0"/>
          <p:cNvPicPr preferRelativeResize="0"/>
          <p:nvPr/>
        </p:nvPicPr>
        <p:blipFill rotWithShape="1">
          <a:blip r:embed="rId2">
            <a:alphaModFix/>
          </a:blip>
          <a:srcRect l="99" r="98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0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0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1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8" name="Google Shape;18;p22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2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22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22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22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25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2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" name="Google Shape;44;p2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5" name="Google Shape;45;p2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0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30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1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1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2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32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2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33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3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3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g33cef942d38_1_78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g33cef942d38_1_78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2" name="Google Shape;72;g33cef942d38_1_78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3cef942d38_1_82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5" name="Google Shape;75;g33cef942d38_1_8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3cef942d38_1_8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3cef942d38_1_8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g33cef942d38_1_87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81" name="Google Shape;81;g33cef942d38_1_8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3cef942d38_1_9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84" name="Google Shape;84;g33cef942d38_1_91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g33cef942d38_1_91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g33cef942d38_1_91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g33cef942d38_1_91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8" name="Google Shape;88;g33cef942d38_1_91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3cef942d38_1_9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91" name="Google Shape;91;g33cef942d38_1_9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g33cef942d38_1_98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3cef942d38_1_10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g33cef942d38_1_102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6" name="Google Shape;96;g33cef942d38_1_102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3cef942d38_1_10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g33cef942d38_1_106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00" name="Google Shape;100;g33cef942d38_1_106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101" name="Google Shape;101;g33cef942d38_1_106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g33cef942d38_1_10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3cef942d38_1_1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3cef942d38_1_1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3cef942d38_1_11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g33cef942d38_1_116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33cef942d38_1_116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3cef942d38_1_12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g33cef942d38_1_120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g33cef942d38_1_120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3cef942d38_1_12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g33cef942d38_1_12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8" name="Google Shape;118;g33cef942d38_1_12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g33cef942d38_1_12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3cef942d38_1_12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g33cef942d38_1_129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g33cef942d38_1_129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g33cef942d38_1_129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4.jp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5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9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3cef942d38_1_7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7" name="Google Shape;67;g33cef942d38_1_74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8" name="Google Shape;68;g33cef942d38_1_7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3cef942d38_1_69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otus.ru</a:t>
            </a:r>
            <a:endParaRPr/>
          </a:p>
        </p:txBody>
      </p:sp>
      <p:sp>
        <p:nvSpPr>
          <p:cNvPr id="130" name="Google Shape;130;g33cef942d38_1_69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dirty="0"/>
              <a:t>Microservice Architecture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 dirty="0"/>
              <a:t>Выпускной проект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"/>
          <p:cNvSpPr txBox="1">
            <a:spLocks noGrp="1"/>
          </p:cNvSpPr>
          <p:nvPr>
            <p:ph type="title"/>
          </p:nvPr>
        </p:nvSpPr>
        <p:spPr>
          <a:xfrm>
            <a:off x="766725" y="1805199"/>
            <a:ext cx="7935300" cy="12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/>
              <a:t>Меня хорошо видно</a:t>
            </a:r>
            <a:endParaRPr sz="4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" sz="4000"/>
              <a:t>&amp; слышно?</a:t>
            </a:r>
            <a:endParaRPr sz="4000"/>
          </a:p>
        </p:txBody>
      </p:sp>
      <p:pic>
        <p:nvPicPr>
          <p:cNvPr id="136" name="Google Shape;136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75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84856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"/>
          <p:cNvSpPr/>
          <p:nvPr/>
        </p:nvSpPr>
        <p:spPr>
          <a:xfrm>
            <a:off x="630000" y="2716325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3"/>
          <p:cNvPicPr preferRelativeResize="0"/>
          <p:nvPr/>
        </p:nvPicPr>
        <p:blipFill>
          <a:blip r:embed="rId3">
            <a:alphaModFix/>
          </a:blip>
          <a:srcRect t="656" b="656"/>
          <a:stretch/>
        </p:blipFill>
        <p:spPr>
          <a:xfrm>
            <a:off x="1069674" y="2963889"/>
            <a:ext cx="1508400" cy="14886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44" name="Google Shape;144;p3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 dirty="0"/>
              <a:t>Защита проекта</a:t>
            </a:r>
            <a:endParaRPr sz="3000" dirty="0"/>
          </a:p>
          <a:p>
            <a:pPr lvl="0">
              <a:buSzPts val="1100"/>
            </a:pPr>
            <a:r>
              <a:rPr lang="ru" sz="3000" dirty="0"/>
              <a:t>Тема: </a:t>
            </a:r>
            <a:r>
              <a:rPr lang="ru-RU" b="0" dirty="0"/>
              <a:t>«Онлайн-магазин с использованием микросервисной архитектуры»</a:t>
            </a:r>
            <a:endParaRPr sz="30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endParaRPr dirty="0"/>
          </a:p>
        </p:txBody>
      </p:sp>
      <p:sp>
        <p:nvSpPr>
          <p:cNvPr id="145" name="Google Shape;145;p3"/>
          <p:cNvSpPr txBox="1"/>
          <p:nvPr/>
        </p:nvSpPr>
        <p:spPr>
          <a:xfrm>
            <a:off x="3123850" y="2716325"/>
            <a:ext cx="5856300" cy="7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b="1" dirty="0">
                <a:latin typeface="Roboto"/>
                <a:ea typeface="Roboto"/>
                <a:cs typeface="Roboto"/>
                <a:sym typeface="Roboto"/>
              </a:rPr>
              <a:t>Рожкин Павел Александрович</a:t>
            </a:r>
            <a:endParaRPr sz="1400" b="1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3"/>
          <p:cNvSpPr txBox="1"/>
          <p:nvPr/>
        </p:nvSpPr>
        <p:spPr>
          <a:xfrm>
            <a:off x="3123850" y="3279300"/>
            <a:ext cx="5856300" cy="13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Golang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Team</a:t>
            </a:r>
            <a:r>
              <a:rPr lang="en-US" dirty="0" err="1">
                <a:latin typeface="Roboto"/>
                <a:ea typeface="Roboto"/>
                <a:cs typeface="Roboto"/>
                <a:sym typeface="Roboto"/>
              </a:rPr>
              <a:t>lead</a:t>
            </a:r>
            <a:endParaRPr sz="14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ООО 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“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Протей-Лаб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”</a:t>
            </a:r>
            <a:endParaRPr sz="14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/>
              <a:t>План защиты</a:t>
            </a:r>
            <a:endParaRPr sz="3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endParaRPr/>
          </a:p>
        </p:txBody>
      </p:sp>
      <p:sp>
        <p:nvSpPr>
          <p:cNvPr id="152" name="Google Shape;152;p4"/>
          <p:cNvSpPr/>
          <p:nvPr/>
        </p:nvSpPr>
        <p:spPr>
          <a:xfrm>
            <a:off x="786525" y="1510325"/>
            <a:ext cx="37827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Описание проекта</a:t>
            </a:r>
            <a:endParaRPr sz="14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787125" y="2099825"/>
            <a:ext cx="37827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Используемые</a:t>
            </a: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технологии и паттерны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787125" y="2683025"/>
            <a:ext cx="37827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</a:t>
            </a:r>
            <a:r>
              <a:rPr lang="ru" sz="13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получилось: </a:t>
            </a: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схемы</a:t>
            </a: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/</a:t>
            </a: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архитектура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786525" y="3266225"/>
            <a:ext cx="37827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  <a:endParaRPr sz="13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6" name="Google Shape;156;p4"/>
          <p:cNvCxnSpPr>
            <a:stCxn id="152" idx="1"/>
            <a:endCxn id="153" idx="1"/>
          </p:cNvCxnSpPr>
          <p:nvPr/>
        </p:nvCxnSpPr>
        <p:spPr>
          <a:xfrm>
            <a:off x="786525" y="1698425"/>
            <a:ext cx="600" cy="589500"/>
          </a:xfrm>
          <a:prstGeom prst="curvedConnector3">
            <a:avLst>
              <a:gd name="adj1" fmla="val -396875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57" name="Google Shape;157;p4"/>
          <p:cNvCxnSpPr>
            <a:stCxn id="153" idx="1"/>
            <a:endCxn id="154" idx="1"/>
          </p:cNvCxnSpPr>
          <p:nvPr/>
        </p:nvCxnSpPr>
        <p:spPr>
          <a:xfrm>
            <a:off x="787125" y="2287925"/>
            <a:ext cx="600" cy="583200"/>
          </a:xfrm>
          <a:prstGeom prst="curvedConnector3">
            <a:avLst>
              <a:gd name="adj1" fmla="val -396875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58" name="Google Shape;158;p4"/>
          <p:cNvCxnSpPr>
            <a:stCxn id="154" idx="1"/>
            <a:endCxn id="155" idx="1"/>
          </p:cNvCxnSpPr>
          <p:nvPr/>
        </p:nvCxnSpPr>
        <p:spPr>
          <a:xfrm flipH="1">
            <a:off x="786525" y="2871125"/>
            <a:ext cx="600" cy="583200"/>
          </a:xfrm>
          <a:prstGeom prst="curvedConnector3">
            <a:avLst>
              <a:gd name="adj1" fmla="val 397875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3cef942d38_1_13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 sz="3000" dirty="0"/>
              <a:t>Общее описание проекта</a:t>
            </a:r>
            <a:endParaRPr sz="3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1331D1-CCDA-8C9D-16FF-CF90419F1076}"/>
              </a:ext>
            </a:extLst>
          </p:cNvPr>
          <p:cNvSpPr txBox="1"/>
          <p:nvPr/>
        </p:nvSpPr>
        <p:spPr>
          <a:xfrm>
            <a:off x="998162" y="1884641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83641C-6745-BDD6-833D-61BB06D4FDFB}"/>
              </a:ext>
            </a:extLst>
          </p:cNvPr>
          <p:cNvSpPr txBox="1"/>
          <p:nvPr/>
        </p:nvSpPr>
        <p:spPr>
          <a:xfrm>
            <a:off x="500550" y="1272735"/>
            <a:ext cx="843759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Система представляет собой онлайн-магазин, построенный на основе микросервисной архитектуры. Пользователь может зарегистрироваться, пополнить счёт и оформить заказ.</a:t>
            </a:r>
          </a:p>
          <a:p>
            <a:endParaRPr lang="ru-RU" dirty="0"/>
          </a:p>
          <a:p>
            <a:r>
              <a:rPr lang="ru-RU" dirty="0"/>
              <a:t>Основной пользовательский сценарий:</a:t>
            </a:r>
            <a:br>
              <a:rPr lang="en-US" dirty="0"/>
            </a:br>
            <a:r>
              <a:rPr lang="ru-RU" dirty="0"/>
              <a:t>Регистрация → пополнение счёта → создание заказа → оплата → резервирование товара → резервирование доставки → уведомление</a:t>
            </a:r>
          </a:p>
          <a:p>
            <a:endParaRPr lang="ru-RU" dirty="0"/>
          </a:p>
          <a:p>
            <a:r>
              <a:rPr lang="ru-RU" dirty="0"/>
              <a:t>Каждый этап выполняется отдельным сервисом. Если оформление заказа завершается ошибкой, система отменяет ранее выполненные операции.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 sz="3000" dirty="0"/>
              <a:t>Используемые технологии и паттерны</a:t>
            </a:r>
            <a:endParaRPr sz="30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endParaRPr sz="30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endParaRPr dirty="0"/>
          </a:p>
        </p:txBody>
      </p:sp>
      <p:graphicFrame>
        <p:nvGraphicFramePr>
          <p:cNvPr id="169" name="Google Shape;169;p7"/>
          <p:cNvGraphicFramePr/>
          <p:nvPr>
            <p:extLst>
              <p:ext uri="{D42A27DB-BD31-4B8C-83A1-F6EECF244321}">
                <p14:modId xmlns:p14="http://schemas.microsoft.com/office/powerpoint/2010/main" val="87091006"/>
              </p:ext>
            </p:extLst>
          </p:nvPr>
        </p:nvGraphicFramePr>
        <p:xfrm>
          <a:off x="952500" y="1544194"/>
          <a:ext cx="7239000" cy="1625054"/>
        </p:xfrm>
        <a:graphic>
          <a:graphicData uri="http://schemas.openxmlformats.org/drawingml/2006/table">
            <a:tbl>
              <a:tblPr>
                <a:noFill/>
                <a:tableStyleId>{179F2DDD-858B-4C48-8312-BD252F341D8D}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" sz="1300" b="1" u="none" strike="noStrike" cap="none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u="none" strike="noStrike" cap="none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Разработка сервисов: </a:t>
                      </a:r>
                      <a:r>
                        <a:rPr lang="en-US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Go, Gin, GORM, PostgreSQL</a:t>
                      </a:r>
                      <a:endParaRPr sz="1300" u="none" strike="noStrike" cap="none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" sz="1300" b="1" u="none" strike="noStrike" cap="none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u="none" strike="noStrike" cap="none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Взаимодействие: </a:t>
                      </a:r>
                      <a:r>
                        <a:rPr lang="en-US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REST API, Apache Kafka, </a:t>
                      </a:r>
                      <a:r>
                        <a:rPr lang="en-US" sz="1300" u="none" strike="noStrike" cap="none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OpenAPI</a:t>
                      </a:r>
                      <a:r>
                        <a:rPr lang="en-US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, </a:t>
                      </a:r>
                      <a:r>
                        <a:rPr lang="en-US" sz="1300" u="none" strike="noStrike" cap="none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AsyncAPI</a:t>
                      </a:r>
                      <a:endParaRPr sz="1300" u="none" strike="noStrike" cap="none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" sz="1300" b="1" u="none" strike="noStrike" cap="none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 u="none" strike="noStrike" cap="none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Инфраструктура: </a:t>
                      </a:r>
                      <a:r>
                        <a:rPr lang="en-US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Docker, Kubernetes, Helm, NGINX Ingress, Prometheus, Grafana, Loki</a:t>
                      </a:r>
                      <a:endParaRPr sz="1300" u="none" strike="noStrike" cap="none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" sz="1300" b="1" u="none" strike="noStrike" cap="none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300" b="1" u="none" strike="noStrike" cap="none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Паттерны: </a:t>
                      </a:r>
                      <a:r>
                        <a:rPr lang="en-US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Database per Service, </a:t>
                      </a:r>
                      <a:r>
                        <a:rPr lang="ru-RU" sz="1300" u="none" strike="noStrike" cap="none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оркестрируемая</a:t>
                      </a:r>
                      <a:r>
                        <a:rPr lang="ru-RU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Saga, Transactional Outbox, </a:t>
                      </a:r>
                      <a:r>
                        <a:rPr lang="ru-RU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идемпотентные обработчики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92015B91-795A-8AFF-3150-6CA38CE70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3cef942d38_1_146">
            <a:extLst>
              <a:ext uri="{FF2B5EF4-FFF2-40B4-BE49-F238E27FC236}">
                <a16:creationId xmlns:a16="http://schemas.microsoft.com/office/drawing/2014/main" id="{9FDE22FC-A969-DA5C-6C68-7D1BB8DA34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sz="3000" dirty="0"/>
              <a:t>Состав системы</a:t>
            </a:r>
            <a:endParaRPr sz="30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endParaRPr sz="30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endParaRPr sz="30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5BC49CD-0B24-4068-8607-AFF29657DF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764" y="1099066"/>
            <a:ext cx="8448472" cy="3506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226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3cef942d38_1_14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 sz="3000" dirty="0"/>
              <a:t>Диаграмма развертывания</a:t>
            </a:r>
            <a:endParaRPr sz="30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endParaRPr sz="30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endParaRPr sz="30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endParaRPr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D117FDA-E947-65D9-3BA5-050FB9D31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50" y="917824"/>
            <a:ext cx="7827455" cy="38949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 sz="3000" dirty="0"/>
              <a:t>Sequence диаграмма заказа</a:t>
            </a:r>
            <a:endParaRPr sz="30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4386B25-AA7C-6FCA-8762-A9F156F966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550" y="981034"/>
            <a:ext cx="3693869" cy="383174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BF6CD90-3F20-8F45-794D-A26C842527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0850" y="1554663"/>
            <a:ext cx="3468605" cy="24221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8BA1223-6850-8567-60EB-329D69E01D60}"/>
              </a:ext>
            </a:extLst>
          </p:cNvPr>
          <p:cNvSpPr txBox="1"/>
          <p:nvPr/>
        </p:nvSpPr>
        <p:spPr>
          <a:xfrm>
            <a:off x="4704131" y="878674"/>
            <a:ext cx="379142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Оформление заказа реализовано как </a:t>
            </a:r>
            <a:r>
              <a:rPr lang="ru-RU" sz="1000" dirty="0" err="1"/>
              <a:t>оркестрируемая</a:t>
            </a:r>
            <a:r>
              <a:rPr lang="ru-RU" sz="1000" dirty="0"/>
              <a:t> </a:t>
            </a:r>
            <a:r>
              <a:rPr lang="ru-RU" sz="1000" dirty="0" err="1"/>
              <a:t>Saga</a:t>
            </a:r>
            <a:r>
              <a:rPr lang="ru-RU" sz="1000" dirty="0"/>
              <a:t> </a:t>
            </a:r>
          </a:p>
          <a:p>
            <a:r>
              <a:rPr lang="ru-RU" sz="1000" dirty="0"/>
              <a:t>с компенсациями</a:t>
            </a:r>
            <a:br>
              <a:rPr lang="ru-RU" sz="1000" dirty="0"/>
            </a:br>
            <a:br>
              <a:rPr lang="ru-RU" sz="1000" dirty="0"/>
            </a:br>
            <a:endParaRPr lang="ru-RU" sz="1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70CF52-22A9-ACC4-22F8-F8314D8B5332}"/>
              </a:ext>
            </a:extLst>
          </p:cNvPr>
          <p:cNvSpPr txBox="1"/>
          <p:nvPr/>
        </p:nvSpPr>
        <p:spPr>
          <a:xfrm>
            <a:off x="4760850" y="4104890"/>
            <a:ext cx="335760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dirty="0"/>
              <a:t>Идемпотентность не ограничивается HTTP-запросом: она поддерживается на каждом уровне, где возможны повторная доставка, конкурентное выполнение или перезапуск процесса.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3cef942d38_1_13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 sz="3000" dirty="0"/>
              <a:t>Схема аутентификации</a:t>
            </a:r>
            <a:endParaRPr sz="30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endParaRPr sz="30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endParaRPr sz="30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005BC36-DF24-0D9A-C937-BA18C3C97E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946" y="1134621"/>
            <a:ext cx="6454108" cy="23362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48C992-01A3-8F78-975C-B2E0EEDD7DBB}"/>
              </a:ext>
            </a:extLst>
          </p:cNvPr>
          <p:cNvSpPr txBox="1"/>
          <p:nvPr/>
        </p:nvSpPr>
        <p:spPr>
          <a:xfrm>
            <a:off x="461987" y="3643225"/>
            <a:ext cx="791362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После входа </a:t>
            </a:r>
            <a:r>
              <a:rPr lang="en-US" dirty="0"/>
              <a:t>User Service </a:t>
            </a:r>
            <a:r>
              <a:rPr lang="ru-RU" dirty="0"/>
              <a:t>создаёт сессию в </a:t>
            </a:r>
            <a:r>
              <a:rPr lang="en-US" dirty="0"/>
              <a:t>PostgreSQL </a:t>
            </a:r>
            <a:r>
              <a:rPr lang="ru-RU" dirty="0"/>
              <a:t>и возвращает </a:t>
            </a:r>
            <a:r>
              <a:rPr lang="en-US" dirty="0"/>
              <a:t>cookie </a:t>
            </a:r>
            <a:r>
              <a:rPr lang="en-US" dirty="0" err="1"/>
              <a:t>session_id</a:t>
            </a:r>
            <a:r>
              <a:rPr lang="en-US" dirty="0"/>
              <a:t>.</a:t>
            </a:r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Для защищённых маршрутов </a:t>
            </a:r>
            <a:r>
              <a:rPr lang="en-US" dirty="0"/>
              <a:t>NGINX Ingress </a:t>
            </a:r>
            <a:r>
              <a:rPr lang="ru-RU" dirty="0"/>
              <a:t>вызывает /</a:t>
            </a:r>
            <a:r>
              <a:rPr lang="en-US" dirty="0"/>
              <a:t>auth </a:t>
            </a:r>
            <a:r>
              <a:rPr lang="ru-RU" dirty="0"/>
              <a:t>и передаёт в сервисы заголовки </a:t>
            </a:r>
            <a:r>
              <a:rPr lang="en-US" dirty="0"/>
              <a:t>X-Auth-</a:t>
            </a:r>
            <a:r>
              <a:rPr lang="en-US" dirty="0" err="1"/>
              <a:t>UserId</a:t>
            </a:r>
            <a:r>
              <a:rPr lang="en-US" dirty="0"/>
              <a:t>, X-Auth-Email </a:t>
            </a:r>
            <a:r>
              <a:rPr lang="ru-RU" dirty="0"/>
              <a:t>и </a:t>
            </a:r>
            <a:r>
              <a:rPr lang="en-US" dirty="0"/>
              <a:t>X-Auth-Roles.</a:t>
            </a:r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Сервисы используют полученные заголовки для проверки владельца ресурса и роли пользователя.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3cef942d38_2_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 sz="3000" dirty="0"/>
              <a:t>Описание межсервисного взаимодействия</a:t>
            </a:r>
            <a:endParaRPr sz="30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endParaRPr sz="30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endParaRPr sz="30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89E494-6592-5DB3-289A-B9BDACC0A0D5}"/>
              </a:ext>
            </a:extLst>
          </p:cNvPr>
          <p:cNvSpPr txBox="1"/>
          <p:nvPr/>
        </p:nvSpPr>
        <p:spPr>
          <a:xfrm>
            <a:off x="828226" y="1209840"/>
            <a:ext cx="26741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Синхронное взаимодействие</a:t>
            </a:r>
            <a:r>
              <a:rPr lang="en-US" dirty="0"/>
              <a:t>: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642276-9838-1AD2-E59C-800E1599E23A}"/>
              </a:ext>
            </a:extLst>
          </p:cNvPr>
          <p:cNvSpPr txBox="1"/>
          <p:nvPr/>
        </p:nvSpPr>
        <p:spPr>
          <a:xfrm>
            <a:off x="4976193" y="1209839"/>
            <a:ext cx="27542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Асинхронное взаимодействие</a:t>
            </a:r>
            <a:r>
              <a:rPr lang="en-US" dirty="0"/>
              <a:t>: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B48426-742E-370A-45A4-45B6B40F3D8C}"/>
              </a:ext>
            </a:extLst>
          </p:cNvPr>
          <p:cNvSpPr txBox="1"/>
          <p:nvPr/>
        </p:nvSpPr>
        <p:spPr>
          <a:xfrm>
            <a:off x="828226" y="1728264"/>
            <a:ext cx="337514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ru-RU" sz="1200" dirty="0"/>
              <a:t>Клиентские запросы проходят через NGINX </a:t>
            </a:r>
            <a:r>
              <a:rPr lang="ru-RU" sz="1200" dirty="0" err="1"/>
              <a:t>Ingress</a:t>
            </a:r>
            <a:r>
              <a:rPr lang="ru-RU" sz="1200" dirty="0"/>
              <a:t>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ru-RU" sz="1200" dirty="0"/>
              <a:t>User Service проверяет пользовательскую сессию через /</a:t>
            </a:r>
            <a:r>
              <a:rPr lang="ru-RU" sz="1200" dirty="0" err="1"/>
              <a:t>auth</a:t>
            </a:r>
            <a:r>
              <a:rPr lang="ru-RU" sz="1200" dirty="0"/>
              <a:t>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ru-RU" sz="1200" dirty="0"/>
              <a:t>При регистрации User Service вызывает </a:t>
            </a:r>
            <a:r>
              <a:rPr lang="ru-RU" sz="1200" dirty="0" err="1"/>
              <a:t>Billing</a:t>
            </a:r>
            <a:r>
              <a:rPr lang="ru-RU" sz="1200" dirty="0"/>
              <a:t> Service для создания счёта.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ru-RU" sz="1200" dirty="0"/>
              <a:t>HTTP-контракты описаны в </a:t>
            </a:r>
            <a:r>
              <a:rPr lang="ru-RU" sz="1200" dirty="0" err="1"/>
              <a:t>OpenAPI</a:t>
            </a:r>
            <a:r>
              <a:rPr lang="ru-RU" sz="1200" dirty="0"/>
              <a:t>.</a:t>
            </a:r>
          </a:p>
          <a:p>
            <a:pPr algn="just"/>
            <a:endParaRPr lang="ru-RU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DDF1AA-6B60-DA92-6A29-10844244F6DE}"/>
              </a:ext>
            </a:extLst>
          </p:cNvPr>
          <p:cNvSpPr txBox="1"/>
          <p:nvPr/>
        </p:nvSpPr>
        <p:spPr>
          <a:xfrm>
            <a:off x="4976193" y="1728264"/>
            <a:ext cx="323869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ru-RU" sz="1200" dirty="0" err="1">
                <a:latin typeface="+mn-lt"/>
              </a:rPr>
              <a:t>Order</a:t>
            </a:r>
            <a:r>
              <a:rPr lang="ru-RU" sz="1200" dirty="0">
                <a:latin typeface="+mn-lt"/>
              </a:rPr>
              <a:t> Service отправляет через </a:t>
            </a:r>
            <a:r>
              <a:rPr lang="ru-RU" sz="1200" dirty="0" err="1">
                <a:latin typeface="+mn-lt"/>
              </a:rPr>
              <a:t>Kafka</a:t>
            </a:r>
            <a:r>
              <a:rPr lang="ru-RU" sz="1200" dirty="0">
                <a:latin typeface="+mn-lt"/>
              </a:rPr>
              <a:t> команды в </a:t>
            </a:r>
            <a:r>
              <a:rPr lang="ru-RU" sz="1200" dirty="0" err="1">
                <a:latin typeface="+mn-lt"/>
              </a:rPr>
              <a:t>Billing</a:t>
            </a:r>
            <a:r>
              <a:rPr lang="ru-RU" sz="1200" dirty="0">
                <a:latin typeface="+mn-lt"/>
              </a:rPr>
              <a:t>, </a:t>
            </a:r>
            <a:r>
              <a:rPr lang="ru-RU" sz="1200" dirty="0" err="1">
                <a:latin typeface="+mn-lt"/>
              </a:rPr>
              <a:t>Warehouse</a:t>
            </a:r>
            <a:r>
              <a:rPr lang="ru-RU" sz="1200" dirty="0">
                <a:latin typeface="+mn-lt"/>
              </a:rPr>
              <a:t>, Delivery и </a:t>
            </a:r>
            <a:r>
              <a:rPr lang="ru-RU" sz="1200" dirty="0" err="1">
                <a:latin typeface="+mn-lt"/>
              </a:rPr>
              <a:t>Notification</a:t>
            </a:r>
            <a:r>
              <a:rPr lang="ru-RU" sz="1200" dirty="0">
                <a:latin typeface="+mn-lt"/>
              </a:rPr>
              <a:t> Service.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ru-RU" sz="1200" dirty="0">
                <a:latin typeface="+mn-lt"/>
              </a:rPr>
              <a:t>Участники </a:t>
            </a:r>
            <a:r>
              <a:rPr lang="ru-RU" sz="1200" dirty="0" err="1">
                <a:latin typeface="+mn-lt"/>
              </a:rPr>
              <a:t>Saga</a:t>
            </a:r>
            <a:r>
              <a:rPr lang="ru-RU" sz="1200" dirty="0">
                <a:latin typeface="+mn-lt"/>
              </a:rPr>
              <a:t> возвращают результаты в </a:t>
            </a:r>
            <a:r>
              <a:rPr lang="ru-RU" sz="1200" dirty="0" err="1">
                <a:latin typeface="+mn-lt"/>
              </a:rPr>
              <a:t>Order</a:t>
            </a:r>
            <a:r>
              <a:rPr lang="ru-RU" sz="1200" dirty="0">
                <a:latin typeface="+mn-lt"/>
              </a:rPr>
              <a:t> Service.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ru-RU" sz="1200" dirty="0" err="1">
                <a:latin typeface="+mn-lt"/>
              </a:rPr>
              <a:t>Kafka</a:t>
            </a:r>
            <a:r>
              <a:rPr lang="ru-RU" sz="1200" dirty="0">
                <a:latin typeface="+mn-lt"/>
              </a:rPr>
              <a:t> </a:t>
            </a:r>
            <a:r>
              <a:rPr lang="ru-RU" sz="1200" dirty="0" err="1">
                <a:latin typeface="+mn-lt"/>
              </a:rPr>
              <a:t>key</a:t>
            </a:r>
            <a:r>
              <a:rPr lang="ru-RU" sz="1200" dirty="0">
                <a:latin typeface="+mn-lt"/>
              </a:rPr>
              <a:t> равен </a:t>
            </a:r>
            <a:r>
              <a:rPr lang="ru-RU" sz="1200" dirty="0" err="1">
                <a:latin typeface="+mn-lt"/>
              </a:rPr>
              <a:t>orderId</a:t>
            </a:r>
            <a:r>
              <a:rPr lang="ru-RU" sz="1200" dirty="0">
                <a:latin typeface="+mn-lt"/>
              </a:rPr>
              <a:t>, поэтому сообщения одного заказа попадают в одну </a:t>
            </a:r>
            <a:r>
              <a:rPr lang="ru-RU" sz="1200" dirty="0" err="1">
                <a:latin typeface="+mn-lt"/>
              </a:rPr>
              <a:t>партицию</a:t>
            </a:r>
            <a:r>
              <a:rPr lang="ru-RU" sz="1200" dirty="0">
                <a:latin typeface="+mn-lt"/>
              </a:rPr>
              <a:t>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ru-RU" sz="1200" dirty="0">
                <a:latin typeface="+mn-lt"/>
              </a:rPr>
              <a:t>Асинхронные контракты описаны в </a:t>
            </a:r>
            <a:r>
              <a:rPr lang="ru-RU" sz="1200" dirty="0" err="1">
                <a:latin typeface="+mn-lt"/>
              </a:rPr>
              <a:t>AsyncAPI</a:t>
            </a:r>
            <a:r>
              <a:rPr lang="ru-RU" sz="1200" dirty="0">
                <a:latin typeface="+mn-lt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EA6490-A552-4D0F-E7D6-9EF34C69AFD4}"/>
              </a:ext>
            </a:extLst>
          </p:cNvPr>
          <p:cNvSpPr txBox="1"/>
          <p:nvPr/>
        </p:nvSpPr>
        <p:spPr>
          <a:xfrm>
            <a:off x="622366" y="4150706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44906D-3FBA-7170-2027-793E4778CD5B}"/>
              </a:ext>
            </a:extLst>
          </p:cNvPr>
          <p:cNvSpPr txBox="1"/>
          <p:nvPr/>
        </p:nvSpPr>
        <p:spPr>
          <a:xfrm>
            <a:off x="885675" y="4074107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17A14C-5272-18F9-4DCF-3297D0B893C6}"/>
              </a:ext>
            </a:extLst>
          </p:cNvPr>
          <p:cNvSpPr txBox="1"/>
          <p:nvPr/>
        </p:nvSpPr>
        <p:spPr>
          <a:xfrm>
            <a:off x="622366" y="4073761"/>
            <a:ext cx="8105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HTTP используется для операций, требующих немедленного ответа. </a:t>
            </a:r>
          </a:p>
          <a:p>
            <a:r>
              <a:rPr lang="ru-RU" sz="1200" dirty="0" err="1"/>
              <a:t>Kafka</a:t>
            </a:r>
            <a:r>
              <a:rPr lang="ru-RU" sz="1200" dirty="0"/>
              <a:t> используется для длительного процесса оформления заказа и уменьшения связанности сервисов.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3cef942d38_2_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 sz="3000" dirty="0"/>
              <a:t>Схема хранения данных</a:t>
            </a:r>
            <a:endParaRPr sz="30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endParaRPr sz="30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endParaRPr sz="30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45571FE-BD11-9947-D49F-A021B782C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49" y="1043276"/>
            <a:ext cx="4528913" cy="19220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7FA24E-1270-7AC3-92BB-B8E4FA2BD162}"/>
              </a:ext>
            </a:extLst>
          </p:cNvPr>
          <p:cNvSpPr txBox="1"/>
          <p:nvPr/>
        </p:nvSpPr>
        <p:spPr>
          <a:xfrm>
            <a:off x="500549" y="3083456"/>
            <a:ext cx="7312543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Используется паттерн Database </a:t>
            </a:r>
            <a:r>
              <a:rPr lang="ru-RU" dirty="0" err="1"/>
              <a:t>per</a:t>
            </a:r>
            <a:r>
              <a:rPr lang="ru-RU" dirty="0"/>
              <a:t> Service: каждый сервис владеет отдельной </a:t>
            </a:r>
            <a:r>
              <a:rPr lang="ru-RU" dirty="0" err="1"/>
              <a:t>PostgreSQL</a:t>
            </a:r>
            <a:r>
              <a:rPr lang="ru-RU" dirty="0"/>
              <a:t> и не обращается напрямую к базам других сервисов.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Бизнес-изменение и </a:t>
            </a:r>
            <a:r>
              <a:rPr lang="ru-RU" dirty="0" err="1"/>
              <a:t>Outbox</a:t>
            </a:r>
            <a:r>
              <a:rPr lang="ru-RU" dirty="0"/>
              <a:t>-сообщение сохраняются одной локальной транзакцией. Вычитываются </a:t>
            </a:r>
            <a:r>
              <a:rPr lang="ru-RU" dirty="0" err="1"/>
              <a:t>воркером</a:t>
            </a:r>
            <a:r>
              <a:rPr lang="ru-RU" dirty="0"/>
              <a:t> и передаются в </a:t>
            </a:r>
            <a:r>
              <a:rPr lang="en-US" dirty="0"/>
              <a:t>Kafka</a:t>
            </a:r>
            <a:r>
              <a:rPr lang="ru-RU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Конкурентный доступ контролируется блокировками строк и уникальными ограничениями.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Согласованность данных между сервисами достигается через </a:t>
            </a:r>
            <a:r>
              <a:rPr lang="ru-RU" dirty="0" err="1"/>
              <a:t>Saga</a:t>
            </a:r>
            <a:r>
              <a:rPr lang="ru-RU" dirty="0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3cef942d38_1_1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 sz="3000" dirty="0"/>
              <a:t>Схема мониторинга</a:t>
            </a:r>
            <a:endParaRPr sz="30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endParaRPr sz="30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endParaRPr sz="30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2425F5-5C55-7892-9048-2EAE8EA908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50" y="1044883"/>
            <a:ext cx="3989889" cy="231108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3653E5E-A3B6-B5E9-C6EA-298CE9C97C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454" y="1044884"/>
            <a:ext cx="3989887" cy="23110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5A819B-70A7-A391-26E3-937287039CFA}"/>
              </a:ext>
            </a:extLst>
          </p:cNvPr>
          <p:cNvSpPr txBox="1"/>
          <p:nvPr/>
        </p:nvSpPr>
        <p:spPr>
          <a:xfrm>
            <a:off x="500550" y="3470072"/>
            <a:ext cx="78489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25244E-7857-A146-F448-F54CE001A5B9}"/>
              </a:ext>
            </a:extLst>
          </p:cNvPr>
          <p:cNvSpPr txBox="1"/>
          <p:nvPr/>
        </p:nvSpPr>
        <p:spPr>
          <a:xfrm>
            <a:off x="352141" y="3623960"/>
            <a:ext cx="85206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Grafana </a:t>
            </a:r>
            <a:r>
              <a:rPr lang="ru-RU" dirty="0"/>
              <a:t>используется как единая точка просмотра системных метрик, бизнес метрик, алертов и логов.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Метрики: </a:t>
            </a:r>
            <a:r>
              <a:rPr lang="en-US" dirty="0" err="1"/>
              <a:t>ServiceMonitor</a:t>
            </a:r>
            <a:r>
              <a:rPr lang="en-US" dirty="0"/>
              <a:t> → Prometheus → Grafana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Логи: структурированные логи сервисов</a:t>
            </a:r>
            <a:r>
              <a:rPr lang="en-US" dirty="0"/>
              <a:t> Zap</a:t>
            </a:r>
            <a:r>
              <a:rPr lang="ru-RU" dirty="0"/>
              <a:t> → </a:t>
            </a:r>
            <a:r>
              <a:rPr lang="en-US" dirty="0"/>
              <a:t>Alloy → Loki → Grafana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Стек наблюдаемости развёрнут с помощью </a:t>
            </a:r>
            <a:r>
              <a:rPr lang="en-US" dirty="0"/>
              <a:t>Helm-</a:t>
            </a:r>
            <a:r>
              <a:rPr lang="ru-RU" dirty="0"/>
              <a:t>чартов </a:t>
            </a:r>
            <a:r>
              <a:rPr lang="en-US" dirty="0" err="1"/>
              <a:t>kube</a:t>
            </a:r>
            <a:r>
              <a:rPr lang="en-US" dirty="0"/>
              <a:t>-</a:t>
            </a:r>
            <a:r>
              <a:rPr lang="en-US" dirty="0" err="1"/>
              <a:t>prometheus</a:t>
            </a:r>
            <a:r>
              <a:rPr lang="en-US" dirty="0"/>
              <a:t>-stack, Loki </a:t>
            </a:r>
            <a:r>
              <a:rPr lang="ru-RU" dirty="0"/>
              <a:t>и </a:t>
            </a:r>
            <a:r>
              <a:rPr lang="en-US" dirty="0"/>
              <a:t>Alloy</a:t>
            </a:r>
            <a:endParaRPr lang="ru-RU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03E8E070-3C3B-0658-9513-7283B7582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1">
            <a:extLst>
              <a:ext uri="{FF2B5EF4-FFF2-40B4-BE49-F238E27FC236}">
                <a16:creationId xmlns:a16="http://schemas.microsoft.com/office/drawing/2014/main" id="{C61664C8-A1A3-D81A-C6FC-4676EC3835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6225" y="396394"/>
            <a:ext cx="7559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4900" b="0" dirty="0"/>
              <a:t>Демонстрация</a:t>
            </a:r>
            <a:br>
              <a:rPr lang="ru" sz="5000" b="0" dirty="0"/>
            </a:br>
            <a:endParaRPr sz="1400" b="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endParaRPr sz="3800" dirty="0"/>
          </a:p>
        </p:txBody>
      </p:sp>
    </p:spTree>
    <p:extLst>
      <p:ext uri="{BB962C8B-B14F-4D97-AF65-F5344CB8AC3E}">
        <p14:creationId xmlns:p14="http://schemas.microsoft.com/office/powerpoint/2010/main" val="8892629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6d2f09e360_0_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 sz="3000" dirty="0"/>
              <a:t>С какими сложностями столкнулись</a:t>
            </a:r>
            <a:endParaRPr sz="30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DAC2DF6-DCFF-E4A6-A98E-DA25115C7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84" y="1354844"/>
            <a:ext cx="8353432" cy="293146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 sz="3000" dirty="0"/>
              <a:t>Выводы и планы по развитию</a:t>
            </a:r>
            <a:endParaRPr sz="30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endParaRPr sz="30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endParaRPr sz="30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endParaRPr dirty="0"/>
          </a:p>
        </p:txBody>
      </p:sp>
      <p:graphicFrame>
        <p:nvGraphicFramePr>
          <p:cNvPr id="215" name="Google Shape;215;p10"/>
          <p:cNvGraphicFramePr/>
          <p:nvPr>
            <p:extLst>
              <p:ext uri="{D42A27DB-BD31-4B8C-83A1-F6EECF244321}">
                <p14:modId xmlns:p14="http://schemas.microsoft.com/office/powerpoint/2010/main" val="1999889047"/>
              </p:ext>
            </p:extLst>
          </p:nvPr>
        </p:nvGraphicFramePr>
        <p:xfrm>
          <a:off x="952500" y="1544194"/>
          <a:ext cx="7239000" cy="2536406"/>
        </p:xfrm>
        <a:graphic>
          <a:graphicData uri="http://schemas.openxmlformats.org/drawingml/2006/table">
            <a:tbl>
              <a:tblPr>
                <a:noFill/>
                <a:tableStyleId>{179F2DDD-858B-4C48-8312-BD252F341D8D}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" sz="1300" b="1" u="none" strike="noStrike" cap="none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u="none" strike="noStrike" cap="none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Проект прошел путь от CRUD-сервиса пользователей до системы из шести независимых микросервисов.</a:t>
                      </a:r>
                      <a:endParaRPr sz="1300" u="none" strike="noStrike" cap="none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" sz="1300" b="1" u="none" strike="noStrike" cap="none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u="none" strike="noStrike" cap="none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 u="none" strike="noStrike" cap="none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Saga</a:t>
                      </a:r>
                      <a:r>
                        <a:rPr lang="ru-RU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, </a:t>
                      </a:r>
                      <a:r>
                        <a:rPr lang="ru-RU" sz="1300" u="none" strike="noStrike" cap="none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Transactional</a:t>
                      </a:r>
                      <a:r>
                        <a:rPr lang="ru-RU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300" u="none" strike="noStrike" cap="none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Outbox</a:t>
                      </a:r>
                      <a:r>
                        <a:rPr lang="ru-RU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и идемпотентные обработчики позволили управлять согласованностью распределённого процесса оформления заказа.</a:t>
                      </a:r>
                      <a:endParaRPr sz="1300" u="none" strike="noStrike" cap="none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" sz="1300" b="1" u="none" strike="noStrike" cap="none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 u="none" strike="noStrike" cap="none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Микросервисная архитектура упростила независимое развитие компонентов, но потребовала отдельного решения вопросов согласованности, повторной доставки сообщений и наблюдаемости.</a:t>
                      </a:r>
                      <a:endParaRPr sz="1300" u="none" strike="noStrike" cap="none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" sz="1300" b="1" u="none" strike="noStrike" cap="none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300" b="1" u="none" strike="noStrike" cap="none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Бизнес-логику можно расширить полноценными каталогами товаров, учётом остатков, расписанием курьеров и реальной отправкой </a:t>
                      </a:r>
                      <a:r>
                        <a:rPr lang="ru-RU" sz="1300" u="none" strike="noStrike" cap="none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email</a:t>
                      </a:r>
                      <a:r>
                        <a:rPr lang="ru-RU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u="none" strike="noStrike" cap="none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1"/>
          <p:cNvSpPr txBox="1">
            <a:spLocks noGrp="1"/>
          </p:cNvSpPr>
          <p:nvPr>
            <p:ph type="title"/>
          </p:nvPr>
        </p:nvSpPr>
        <p:spPr>
          <a:xfrm>
            <a:off x="956225" y="396394"/>
            <a:ext cx="7559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900"/>
              <a:t>Спасибо за внимание!</a:t>
            </a:r>
            <a:br>
              <a:rPr lang="ru" sz="5000" b="0"/>
            </a:br>
            <a:endParaRPr sz="14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endParaRPr sz="3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561</Words>
  <Application>Microsoft Office PowerPoint</Application>
  <PresentationFormat>Экран (16:9)</PresentationFormat>
  <Paragraphs>82</Paragraphs>
  <Slides>17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17</vt:i4>
      </vt:variant>
    </vt:vector>
  </HeadingPairs>
  <TitlesOfParts>
    <vt:vector size="22" baseType="lpstr">
      <vt:lpstr>Arial</vt:lpstr>
      <vt:lpstr>Courier New</vt:lpstr>
      <vt:lpstr>Roboto</vt:lpstr>
      <vt:lpstr>Светлая тема</vt:lpstr>
      <vt:lpstr>Светлая тема</vt:lpstr>
      <vt:lpstr>Microservice Architecture Выпускной проект  </vt:lpstr>
      <vt:lpstr>Меня хорошо видно &amp; слышно?</vt:lpstr>
      <vt:lpstr>Защита проекта Тема: «Онлайн-магазин с использованием микросервисной архитектуры»  </vt:lpstr>
      <vt:lpstr>План защиты </vt:lpstr>
      <vt:lpstr>Общее описание проекта</vt:lpstr>
      <vt:lpstr>Используемые технологии и паттерны  </vt:lpstr>
      <vt:lpstr>Состав системы   </vt:lpstr>
      <vt:lpstr>Диаграмма развертывания   </vt:lpstr>
      <vt:lpstr>Sequence диаграмма заказа</vt:lpstr>
      <vt:lpstr>Схема аутентификации   </vt:lpstr>
      <vt:lpstr>Описание межсервисного взаимодействия   </vt:lpstr>
      <vt:lpstr>Схема хранения данных   </vt:lpstr>
      <vt:lpstr>Схема мониторинга   </vt:lpstr>
      <vt:lpstr>Демонстрация  </vt:lpstr>
      <vt:lpstr>С какими сложностями столкнулись </vt:lpstr>
      <vt:lpstr>Выводы и планы по развитию   </vt:lpstr>
      <vt:lpstr>Спасибо за внимание!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Рожкин Павел</cp:lastModifiedBy>
  <cp:revision>31</cp:revision>
  <dcterms:modified xsi:type="dcterms:W3CDTF">2026-08-20T16:37:06Z</dcterms:modified>
</cp:coreProperties>
</file>